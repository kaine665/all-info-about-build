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828800"/>
            <a:ext cx="7680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00D2FF"/>
                </a:solidFill>
                <a:latin typeface="Microsoft YaHei"/>
              </a:defRPr>
            </a:pPr>
            <a:r>
              <a:t>一起拆解目标吧！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474720"/>
            <a:ext cx="7680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BBBBCC"/>
                </a:solidFill>
                <a:latin typeface="Microsoft YaHei"/>
              </a:defRPr>
            </a:pPr>
            <a:r>
              <a:t>用户增长系列课程 · 第3期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02920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Microsoft YaHei"/>
              </a:defRPr>
            </a:pPr>
            <a:r>
              <a:t>UP主：Omega  |  B站用户增长系列课程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200400" y="1828800"/>
            <a:ext cx="2743200" cy="1097280"/>
          </a:xfrm>
          <a:prstGeom prst="round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0" y="1920240"/>
            <a:ext cx="2743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1A1A2E"/>
                </a:solidFill>
                <a:latin typeface="Microsoft YaHei"/>
              </a:defRPr>
            </a:pPr>
            <a: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004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FFFFFF"/>
                </a:solidFill>
                <a:latin typeface="Microsoft YaHei"/>
              </a:defRPr>
            </a:pPr>
            <a:r>
              <a:t>目标拆解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D2FF"/>
                </a:solidFill>
                <a:latin typeface="Microsoft YaHei"/>
              </a:defRPr>
            </a:pPr>
            <a:r>
              <a:t>目标拆解：以网易云音乐为例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8229600" cy="200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8046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  <a:defRPr sz="2000" b="1">
                <a:solidFill>
                  <a:srgbClr val="FFD93D"/>
                </a:solidFill>
                <a:latin typeface="Microsoft YaHei"/>
              </a:defRPr>
            </a:pPr>
            <a:r>
              <a:t>增长目标：每日总听歌时间 = 90 万分钟</a:t>
            </a:r>
          </a:p>
          <a:p>
            <a:pPr>
              <a:spcAft>
                <a:spcPts val="1080"/>
              </a:spcAft>
              <a:defRPr sz="1800" b="0">
                <a:solidFill>
                  <a:srgbClr val="FFFFFF"/>
                </a:solidFill>
                <a:latin typeface="Microsoft YaHei"/>
              </a:defRPr>
            </a:pPr>
          </a:p>
          <a:p>
            <a:pPr>
              <a:spcAft>
                <a:spcPts val="1080"/>
              </a:spcAft>
              <a:defRPr sz="1800" b="0">
                <a:solidFill>
                  <a:srgbClr val="FFFFFF"/>
                </a:solidFill>
                <a:latin typeface="Microsoft YaHei"/>
              </a:defRPr>
            </a:pPr>
            <a:r>
              <a:t>第一层拆解：</a:t>
            </a:r>
          </a:p>
          <a:p>
            <a:pPr>
              <a:spcAft>
                <a:spcPts val="1080"/>
              </a:spcAft>
              <a:defRPr sz="1800" b="0">
                <a:solidFill>
                  <a:srgbClr val="FFFFFF"/>
                </a:solidFill>
                <a:latin typeface="Microsoft YaHei"/>
              </a:defRPr>
            </a:pPr>
            <a:r>
              <a:t>  每日总听歌时长 = 总听歌用户数 × 日均听歌时长</a:t>
            </a:r>
          </a:p>
          <a:p>
            <a:pPr>
              <a:spcAft>
                <a:spcPts val="1080"/>
              </a:spcAft>
              <a:defRPr sz="1800" b="0">
                <a:solidFill>
                  <a:srgbClr val="FFFFFF"/>
                </a:solidFill>
                <a:latin typeface="Microsoft YaHei"/>
              </a:defRPr>
            </a:pPr>
            <a:r>
              <a:t>  = 30,000 人 × 30 分钟/人</a:t>
            </a:r>
          </a:p>
          <a:p>
            <a:pPr>
              <a:spcAft>
                <a:spcPts val="1080"/>
              </a:spcAft>
              <a:defRPr sz="1800" b="0">
                <a:solidFill>
                  <a:srgbClr val="FFFFFF"/>
                </a:solidFill>
                <a:latin typeface="Microsoft YaHei"/>
              </a:defRPr>
            </a:pPr>
          </a:p>
          <a:p>
            <a:pPr>
              <a:spcAft>
                <a:spcPts val="1080"/>
              </a:spcAft>
              <a:defRPr sz="1800" b="0">
                <a:solidFill>
                  <a:srgbClr val="FFFFFF"/>
                </a:solidFill>
                <a:latin typeface="Microsoft YaHei"/>
              </a:defRPr>
            </a:pPr>
            <a:r>
              <a:t>第二层拆解（总听歌用户数）：</a:t>
            </a:r>
          </a:p>
          <a:p>
            <a:pPr>
              <a:spcAft>
                <a:spcPts val="1080"/>
              </a:spcAft>
              <a:defRPr sz="1800" b="0">
                <a:solidFill>
                  <a:srgbClr val="FFFFFF"/>
                </a:solidFill>
                <a:latin typeface="Microsoft YaHei"/>
              </a:defRPr>
            </a:pPr>
            <a:r>
              <a:t>  = 日新增听歌用户 + 每日听歌老用户</a:t>
            </a:r>
          </a:p>
          <a:p>
            <a:pPr>
              <a:spcAft>
                <a:spcPts val="1080"/>
              </a:spcAft>
              <a:defRPr sz="1800" b="0">
                <a:solidFill>
                  <a:srgbClr val="FFFFFF"/>
                </a:solidFill>
                <a:latin typeface="Microsoft YaHei"/>
              </a:defRPr>
            </a:pPr>
            <a:r>
              <a:t>  = 5,000 + 25,000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D2FF"/>
                </a:solidFill>
                <a:latin typeface="Microsoft YaHei"/>
              </a:defRPr>
            </a:pPr>
            <a:r>
              <a:t>继续拆解：日新增听歌用户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8229600" cy="200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8046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  <a:defRPr sz="1800" b="0">
                <a:solidFill>
                  <a:srgbClr val="FFFFFF"/>
                </a:solidFill>
                <a:latin typeface="Microsoft YaHei"/>
              </a:defRPr>
            </a:pPr>
            <a:r>
              <a:t>日新增听歌用户数</a:t>
            </a:r>
          </a:p>
          <a:p>
            <a:pPr>
              <a:spcAft>
                <a:spcPts val="1080"/>
              </a:spcAft>
              <a:defRPr sz="1800" b="0">
                <a:solidFill>
                  <a:srgbClr val="FFFFFF"/>
                </a:solidFill>
                <a:latin typeface="Microsoft YaHei"/>
              </a:defRPr>
            </a:pPr>
            <a:r>
              <a:t>  = 日应用下载量 × 激活率 × 听歌用户比例</a:t>
            </a:r>
          </a:p>
          <a:p>
            <a:pPr>
              <a:spcAft>
                <a:spcPts val="1080"/>
              </a:spcAft>
              <a:defRPr sz="1800" b="0">
                <a:solidFill>
                  <a:srgbClr val="FFFFFF"/>
                </a:solidFill>
                <a:latin typeface="Microsoft YaHei"/>
              </a:defRPr>
            </a:pPr>
            <a:r>
              <a:t>  = 30,000 × 50% × 33%</a:t>
            </a:r>
          </a:p>
          <a:p>
            <a:pPr>
              <a:spcAft>
                <a:spcPts val="1080"/>
              </a:spcAft>
              <a:defRPr sz="1800" b="0">
                <a:solidFill>
                  <a:srgbClr val="FFFFFF"/>
                </a:solidFill>
                <a:latin typeface="Microsoft YaHei"/>
              </a:defRPr>
            </a:pPr>
            <a:r>
              <a:t>  = 5,000</a:t>
            </a:r>
          </a:p>
          <a:p>
            <a:pPr>
              <a:spcAft>
                <a:spcPts val="1080"/>
              </a:spcAft>
              <a:defRPr sz="1800" b="0">
                <a:solidFill>
                  <a:srgbClr val="FFFFFF"/>
                </a:solidFill>
                <a:latin typeface="Microsoft YaHei"/>
              </a:defRPr>
            </a:pPr>
          </a:p>
          <a:p>
            <a:pPr>
              <a:spcAft>
                <a:spcPts val="1080"/>
              </a:spcAft>
              <a:defRPr sz="1800" b="1">
                <a:solidFill>
                  <a:srgbClr val="FFD93D"/>
                </a:solidFill>
                <a:latin typeface="Microsoft YaHei"/>
              </a:defRPr>
            </a:pPr>
            <a:r>
              <a:t>怎么才能每天 3 万下载？</a:t>
            </a:r>
          </a:p>
          <a:p>
            <a:pPr>
              <a:spcAft>
                <a:spcPts val="1080"/>
              </a:spcAft>
              <a:defRPr sz="1800" b="0">
                <a:solidFill>
                  <a:srgbClr val="FFFFFF"/>
                </a:solidFill>
                <a:latin typeface="Microsoft YaHei"/>
              </a:defRPr>
            </a:pPr>
            <a:r>
              <a:t>  • 充值买广告位</a:t>
            </a:r>
          </a:p>
          <a:p>
            <a:pPr>
              <a:spcAft>
                <a:spcPts val="1080"/>
              </a:spcAft>
              <a:defRPr sz="1800" b="0">
                <a:solidFill>
                  <a:srgbClr val="FFFFFF"/>
                </a:solidFill>
                <a:latin typeface="Microsoft YaHei"/>
              </a:defRPr>
            </a:pPr>
            <a:r>
              <a:t>  • 恰饭 UP 主带货</a:t>
            </a:r>
          </a:p>
          <a:p>
            <a:pPr>
              <a:spcAft>
                <a:spcPts val="1080"/>
              </a:spcAft>
              <a:defRPr sz="1800" b="0">
                <a:solidFill>
                  <a:srgbClr val="FFFFFF"/>
                </a:solidFill>
                <a:latin typeface="Microsoft YaHei"/>
              </a:defRPr>
            </a:pPr>
            <a:r>
              <a:t>  • 搜索引擎推广</a:t>
            </a:r>
          </a:p>
          <a:p>
            <a:pPr>
              <a:spcAft>
                <a:spcPts val="1080"/>
              </a:spcAft>
              <a:defRPr sz="1800" b="0">
                <a:solidFill>
                  <a:srgbClr val="FFFFFF"/>
                </a:solidFill>
                <a:latin typeface="Microsoft YaHei"/>
              </a:defRPr>
            </a:pPr>
            <a:r>
              <a:t>  • 公司内部产品互相导流（网易新闻、云笔记等）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5486400"/>
            <a:ext cx="8229600" cy="731520"/>
          </a:xfrm>
          <a:prstGeom prst="roundRect">
            <a:avLst/>
          </a:prstGeom>
          <a:solidFill>
            <a:srgbClr val="3333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5577840"/>
            <a:ext cx="7863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D93D"/>
                </a:solidFill>
                <a:latin typeface="Microsoft YaHei"/>
              </a:defRPr>
            </a:pPr>
            <a:r>
              <a:t>拆到可执行的步骤为止！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200400" y="1828800"/>
            <a:ext cx="2743200" cy="1097280"/>
          </a:xfrm>
          <a:prstGeom prst="round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0" y="1920240"/>
            <a:ext cx="2743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1A1A2E"/>
                </a:solidFill>
                <a:latin typeface="Microsoft YaHei"/>
              </a:defRPr>
            </a:pPr>
            <a: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004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FFFFFF"/>
                </a:solidFill>
                <a:latin typeface="Microsoft YaHei"/>
              </a:defRPr>
            </a:pPr>
            <a:r>
              <a:t>搭建增长模型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D2FF"/>
                </a:solidFill>
                <a:latin typeface="Microsoft YaHei"/>
              </a:defRPr>
            </a:pPr>
            <a:r>
              <a:t>搭建增长模型的方法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8229600" cy="200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8046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  <a:defRPr sz="1800" b="0">
                <a:solidFill>
                  <a:srgbClr val="FFFFFF"/>
                </a:solidFill>
                <a:latin typeface="Microsoft YaHei"/>
              </a:defRPr>
            </a:pPr>
            <a:r>
              <a:t>拆解完目标 → 还不能直接做实验优化</a:t>
            </a:r>
          </a:p>
          <a:p>
            <a:pPr>
              <a:spcAft>
                <a:spcPts val="1080"/>
              </a:spcAft>
              <a:defRPr sz="1800" b="0">
                <a:solidFill>
                  <a:srgbClr val="FFFFFF"/>
                </a:solidFill>
                <a:latin typeface="Microsoft YaHei"/>
              </a:defRPr>
            </a:pPr>
            <a:r>
              <a:t>中间还有关键一步：搭建增长模型</a:t>
            </a:r>
          </a:p>
          <a:p>
            <a:pPr>
              <a:spcAft>
                <a:spcPts val="1080"/>
              </a:spcAft>
              <a:defRPr sz="1800" b="0">
                <a:solidFill>
                  <a:srgbClr val="FFFFFF"/>
                </a:solidFill>
                <a:latin typeface="Microsoft YaHei"/>
              </a:defRPr>
            </a:pPr>
          </a:p>
          <a:p>
            <a:pPr>
              <a:spcAft>
                <a:spcPts val="1080"/>
              </a:spcAft>
              <a:defRPr sz="2000" b="1">
                <a:solidFill>
                  <a:srgbClr val="00D2FF"/>
                </a:solidFill>
                <a:latin typeface="Microsoft YaHei"/>
              </a:defRPr>
            </a:pPr>
            <a:r>
              <a:t>常见方法：</a:t>
            </a:r>
          </a:p>
          <a:p>
            <a:pPr>
              <a:spcAft>
                <a:spcPts val="1080"/>
              </a:spcAft>
              <a:defRPr sz="1800" b="0">
                <a:solidFill>
                  <a:srgbClr val="FFFFFF"/>
                </a:solidFill>
                <a:latin typeface="Microsoft YaHei"/>
              </a:defRPr>
            </a:pPr>
            <a:r>
              <a:t>  • 用户体验旅程</a:t>
            </a:r>
          </a:p>
          <a:p>
            <a:pPr>
              <a:spcAft>
                <a:spcPts val="1080"/>
              </a:spcAft>
              <a:defRPr sz="1800" b="0">
                <a:solidFill>
                  <a:srgbClr val="FFFFFF"/>
                </a:solidFill>
                <a:latin typeface="Microsoft YaHei"/>
              </a:defRPr>
            </a:pPr>
            <a:r>
              <a:t>  • 本能需求决策三部曲</a:t>
            </a:r>
          </a:p>
          <a:p>
            <a:pPr>
              <a:spcAft>
                <a:spcPts val="1080"/>
              </a:spcAft>
              <a:defRPr sz="1800" b="0">
                <a:solidFill>
                  <a:srgbClr val="FFFFFF"/>
                </a:solidFill>
                <a:latin typeface="Microsoft YaHei"/>
              </a:defRPr>
            </a:pPr>
            <a:r>
              <a:t>  • 用户洞察</a:t>
            </a:r>
          </a:p>
          <a:p>
            <a:pPr>
              <a:spcAft>
                <a:spcPts val="1080"/>
              </a:spcAft>
              <a:defRPr sz="1800" b="0">
                <a:solidFill>
                  <a:srgbClr val="FFFFFF"/>
                </a:solidFill>
                <a:latin typeface="Microsoft YaHei"/>
              </a:defRPr>
            </a:pPr>
            <a:r>
              <a:t>  • 数据洞察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D2FF"/>
                </a:solidFill>
                <a:latin typeface="Microsoft YaHei"/>
              </a:defRPr>
            </a:pPr>
            <a:r>
              <a:t>马斯洛需求层次理论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8229600" cy="200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8046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  <a:defRPr sz="1800" b="0">
                <a:solidFill>
                  <a:srgbClr val="FF99FF"/>
                </a:solidFill>
                <a:latin typeface="Microsoft YaHei"/>
              </a:defRPr>
            </a:pPr>
            <a:r>
              <a:t>第5层  自我实现    ← 学习、创造</a:t>
            </a:r>
          </a:p>
          <a:p>
            <a:pPr>
              <a:spcAft>
                <a:spcPts val="1080"/>
              </a:spcAft>
              <a:defRPr sz="1800" b="0">
                <a:solidFill>
                  <a:srgbClr val="FFBB77"/>
                </a:solidFill>
                <a:latin typeface="Microsoft YaHei"/>
              </a:defRPr>
            </a:pPr>
            <a:r>
              <a:t>第4层  尊重需求    ← 成就、认可</a:t>
            </a:r>
          </a:p>
          <a:p>
            <a:pPr>
              <a:spcAft>
                <a:spcPts val="1080"/>
              </a:spcAft>
              <a:defRPr sz="1800" b="0">
                <a:solidFill>
                  <a:srgbClr val="FFD93D"/>
                </a:solidFill>
                <a:latin typeface="Microsoft YaHei"/>
              </a:defRPr>
            </a:pPr>
            <a:r>
              <a:t>第3层  社交需求    ← 归属感、友情</a:t>
            </a:r>
          </a:p>
          <a:p>
            <a:pPr>
              <a:spcAft>
                <a:spcPts val="1080"/>
              </a:spcAft>
              <a:defRPr sz="1800" b="0">
                <a:solidFill>
                  <a:srgbClr val="4ECB71"/>
                </a:solidFill>
                <a:latin typeface="Microsoft YaHei"/>
              </a:defRPr>
            </a:pPr>
            <a:r>
              <a:t>第2层  安全需求    ← 人身安全、经济安全</a:t>
            </a:r>
          </a:p>
          <a:p>
            <a:pPr>
              <a:spcAft>
                <a:spcPts val="1080"/>
              </a:spcAft>
              <a:defRPr sz="1800" b="0">
                <a:solidFill>
                  <a:srgbClr val="00D2FF"/>
                </a:solidFill>
                <a:latin typeface="Microsoft YaHei"/>
              </a:defRPr>
            </a:pPr>
            <a:r>
              <a:t>第1层  生理需求    ← 食物、睡眠</a:t>
            </a:r>
          </a:p>
          <a:p>
            <a:pPr>
              <a:spcAft>
                <a:spcPts val="1080"/>
              </a:spcAft>
              <a:defRPr sz="1800" b="0">
                <a:solidFill>
                  <a:srgbClr val="FFFFFF"/>
                </a:solidFill>
                <a:latin typeface="Microsoft YaHei"/>
              </a:defRPr>
            </a:pPr>
          </a:p>
          <a:p>
            <a:pPr>
              <a:spcAft>
                <a:spcPts val="1080"/>
              </a:spcAft>
              <a:defRPr sz="1800" b="0">
                <a:solidFill>
                  <a:srgbClr val="FFFFFF"/>
                </a:solidFill>
                <a:latin typeface="Microsoft YaHei"/>
              </a:defRPr>
            </a:pPr>
            <a:r>
              <a:t>对应微信产品功能：</a:t>
            </a:r>
          </a:p>
          <a:p>
            <a:pPr>
              <a:spcAft>
                <a:spcPts val="1080"/>
              </a:spcAft>
              <a:defRPr sz="1800" b="0">
                <a:solidFill>
                  <a:srgbClr val="FFFFFF"/>
                </a:solidFill>
                <a:latin typeface="Microsoft YaHei"/>
              </a:defRPr>
            </a:pPr>
            <a:r>
              <a:t>  社交需求 → 朋友圈、微信群</a:t>
            </a:r>
          </a:p>
          <a:p>
            <a:pPr>
              <a:spcAft>
                <a:spcPts val="1080"/>
              </a:spcAft>
              <a:defRPr sz="1800" b="0">
                <a:solidFill>
                  <a:srgbClr val="FFFFFF"/>
                </a:solidFill>
                <a:latin typeface="Microsoft YaHei"/>
              </a:defRPr>
            </a:pPr>
            <a:r>
              <a:t>  自我实现 → 公众号（学习）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200400" y="1828800"/>
            <a:ext cx="2743200" cy="1097280"/>
          </a:xfrm>
          <a:prstGeom prst="round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0" y="1920240"/>
            <a:ext cx="2743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1A1A2E"/>
                </a:solidFill>
                <a:latin typeface="Microsoft YaHei"/>
              </a:defRPr>
            </a:pPr>
            <a: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004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FFFFFF"/>
                </a:solidFill>
                <a:latin typeface="Microsoft YaHei"/>
              </a:defRPr>
            </a:pPr>
            <a:r>
              <a:t>福格行为模型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D2FF"/>
                </a:solidFill>
                <a:latin typeface="Microsoft YaHei"/>
              </a:defRPr>
            </a:pPr>
            <a:r>
              <a:t>福格行为模型 B = MAT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8229600" cy="200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8046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  <a:defRPr sz="2000" b="1">
                <a:solidFill>
                  <a:srgbClr val="00D2FF"/>
                </a:solidFill>
                <a:latin typeface="Microsoft YaHei"/>
              </a:defRPr>
            </a:pPr>
            <a:r>
              <a:t>B = Behavior（行为）</a:t>
            </a:r>
          </a:p>
          <a:p>
            <a:pPr>
              <a:spcAft>
                <a:spcPts val="1080"/>
              </a:spcAft>
              <a:defRPr sz="2000" b="1">
                <a:solidFill>
                  <a:srgbClr val="00D2FF"/>
                </a:solidFill>
                <a:latin typeface="Microsoft YaHei"/>
              </a:defRPr>
            </a:pPr>
            <a:r>
              <a:t>M = Motivation（动机）</a:t>
            </a:r>
          </a:p>
          <a:p>
            <a:pPr>
              <a:spcAft>
                <a:spcPts val="1080"/>
              </a:spcAft>
              <a:defRPr sz="2000" b="1">
                <a:solidFill>
                  <a:srgbClr val="00D2FF"/>
                </a:solidFill>
                <a:latin typeface="Microsoft YaHei"/>
              </a:defRPr>
            </a:pPr>
            <a:r>
              <a:t>A = Ability（能力/门槛）</a:t>
            </a:r>
          </a:p>
          <a:p>
            <a:pPr>
              <a:spcAft>
                <a:spcPts val="1080"/>
              </a:spcAft>
              <a:defRPr sz="2000" b="1">
                <a:solidFill>
                  <a:srgbClr val="00D2FF"/>
                </a:solidFill>
                <a:latin typeface="Microsoft YaHei"/>
              </a:defRPr>
            </a:pPr>
            <a:r>
              <a:t>T = Trigger（触发器）</a:t>
            </a:r>
          </a:p>
          <a:p>
            <a:pPr>
              <a:spcAft>
                <a:spcPts val="1080"/>
              </a:spcAft>
              <a:defRPr sz="1800" b="0">
                <a:solidFill>
                  <a:srgbClr val="FFFFFF"/>
                </a:solidFill>
                <a:latin typeface="Microsoft YaHei"/>
              </a:defRPr>
            </a:pPr>
          </a:p>
          <a:p>
            <a:pPr>
              <a:spcAft>
                <a:spcPts val="1080"/>
              </a:spcAft>
              <a:defRPr sz="1800" b="0">
                <a:solidFill>
                  <a:srgbClr val="FFFFFF"/>
                </a:solidFill>
                <a:latin typeface="Microsoft YaHei"/>
              </a:defRPr>
            </a:pPr>
            <a:r>
              <a:t>图形理解：</a:t>
            </a:r>
          </a:p>
          <a:p>
            <a:pPr>
              <a:spcAft>
                <a:spcPts val="1080"/>
              </a:spcAft>
              <a:defRPr sz="1800" b="0">
                <a:solidFill>
                  <a:srgbClr val="FFFFFF"/>
                </a:solidFill>
                <a:latin typeface="Microsoft YaHei"/>
              </a:defRPr>
            </a:pPr>
            <a:r>
              <a:t>  左下角 → 高门槛 + 低动机 = 无效触发区</a:t>
            </a:r>
          </a:p>
          <a:p>
            <a:pPr>
              <a:spcAft>
                <a:spcPts val="1080"/>
              </a:spcAft>
              <a:defRPr sz="1800" b="0">
                <a:solidFill>
                  <a:srgbClr val="FFFFFF"/>
                </a:solidFill>
                <a:latin typeface="Microsoft YaHei"/>
              </a:defRPr>
            </a:pPr>
            <a:r>
              <a:t>  右上角 → 低门槛 + 高动机 = 有效触发区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D2FF"/>
                </a:solidFill>
                <a:latin typeface="Microsoft YaHei"/>
              </a:defRPr>
            </a:pPr>
            <a:r>
              <a:t>福格模型案例：签到活动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8229600" cy="200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8046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  <a:defRPr sz="1800" b="1">
                <a:solidFill>
                  <a:srgbClr val="FF6B6B"/>
                </a:solidFill>
                <a:latin typeface="Microsoft YaHei"/>
              </a:defRPr>
            </a:pPr>
            <a:r>
              <a:t>❌ 连续签到30天 → 得 0.1 元</a:t>
            </a:r>
          </a:p>
          <a:p>
            <a:pPr>
              <a:spcAft>
                <a:spcPts val="1080"/>
              </a:spcAft>
              <a:defRPr sz="1800" b="0">
                <a:solidFill>
                  <a:srgbClr val="FFFFFF"/>
                </a:solidFill>
                <a:latin typeface="Microsoft YaHei"/>
              </a:defRPr>
            </a:pPr>
            <a:r>
              <a:t>  高门槛 + 低奖励 → 无效触发区</a:t>
            </a:r>
          </a:p>
          <a:p>
            <a:pPr>
              <a:spcAft>
                <a:spcPts val="1080"/>
              </a:spcAft>
              <a:defRPr sz="1800" b="0">
                <a:solidFill>
                  <a:srgbClr val="FFFFFF"/>
                </a:solidFill>
                <a:latin typeface="Microsoft YaHei"/>
              </a:defRPr>
            </a:pPr>
          </a:p>
          <a:p>
            <a:pPr>
              <a:spcAft>
                <a:spcPts val="1080"/>
              </a:spcAft>
              <a:defRPr sz="1800" b="1">
                <a:solidFill>
                  <a:srgbClr val="4ECB71"/>
                </a:solidFill>
                <a:latin typeface="Microsoft YaHei"/>
              </a:defRPr>
            </a:pPr>
            <a:r>
              <a:t>✅ 签到即可得 0.1 元</a:t>
            </a:r>
          </a:p>
          <a:p>
            <a:pPr>
              <a:spcAft>
                <a:spcPts val="1080"/>
              </a:spcAft>
              <a:defRPr sz="1800" b="0">
                <a:solidFill>
                  <a:srgbClr val="FFFFFF"/>
                </a:solidFill>
                <a:latin typeface="Microsoft YaHei"/>
              </a:defRPr>
            </a:pPr>
            <a:r>
              <a:t>  低门槛 + 低奖励 → 有效触发区（不要白不要）</a:t>
            </a:r>
          </a:p>
          <a:p>
            <a:pPr>
              <a:spcAft>
                <a:spcPts val="1080"/>
              </a:spcAft>
              <a:defRPr sz="1800" b="0">
                <a:solidFill>
                  <a:srgbClr val="FFFFFF"/>
                </a:solidFill>
                <a:latin typeface="Microsoft YaHei"/>
              </a:defRPr>
            </a:pPr>
          </a:p>
          <a:p>
            <a:pPr>
              <a:spcAft>
                <a:spcPts val="1080"/>
              </a:spcAft>
              <a:defRPr sz="1800" b="1">
                <a:solidFill>
                  <a:srgbClr val="4ECB71"/>
                </a:solidFill>
                <a:latin typeface="Microsoft YaHei"/>
              </a:defRPr>
            </a:pPr>
            <a:r>
              <a:t>✅ 连续签到30天 → 得 100 元</a:t>
            </a:r>
          </a:p>
          <a:p>
            <a:pPr>
              <a:spcAft>
                <a:spcPts val="1080"/>
              </a:spcAft>
              <a:defRPr sz="1800" b="0">
                <a:solidFill>
                  <a:srgbClr val="FFFFFF"/>
                </a:solidFill>
                <a:latin typeface="Microsoft YaHei"/>
              </a:defRPr>
            </a:pPr>
            <a:r>
              <a:t>  高门槛 + 高奖励 → 有效触发区（值得坚持）</a:t>
            </a:r>
          </a:p>
          <a:p>
            <a:pPr>
              <a:spcAft>
                <a:spcPts val="1080"/>
              </a:spcAft>
              <a:defRPr sz="1800" b="0">
                <a:solidFill>
                  <a:srgbClr val="FFFFFF"/>
                </a:solidFill>
                <a:latin typeface="Microsoft YaHei"/>
              </a:defRPr>
            </a:pPr>
          </a:p>
          <a:p>
            <a:pPr>
              <a:spcAft>
                <a:spcPts val="1080"/>
              </a:spcAft>
              <a:defRPr sz="1800" b="1">
                <a:solidFill>
                  <a:srgbClr val="FFD93D"/>
                </a:solidFill>
                <a:latin typeface="Microsoft YaHei"/>
              </a:defRPr>
            </a:pPr>
            <a:r>
              <a:t>⚠️ 签到就送 100 万？ → 骗子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200400" y="1828800"/>
            <a:ext cx="2743200" cy="1097280"/>
          </a:xfrm>
          <a:prstGeom prst="round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0" y="1920240"/>
            <a:ext cx="2743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1A1A2E"/>
                </a:solidFill>
                <a:latin typeface="Microsoft YaHei"/>
              </a:defRPr>
            </a:pPr>
            <a: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004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FFFFFF"/>
                </a:solidFill>
                <a:latin typeface="Microsoft YaHei"/>
              </a:defRPr>
            </a:pPr>
            <a:r>
              <a:t>数据洞察 &amp; 落地页优化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D2FF"/>
                </a:solidFill>
                <a:latin typeface="Microsoft YaHei"/>
              </a:defRPr>
            </a:pPr>
            <a:r>
              <a:t>数据洞察：提升分享拉新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8229600" cy="200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8046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  <a:defRPr sz="1800" b="0">
                <a:solidFill>
                  <a:srgbClr val="FFFFFF"/>
                </a:solidFill>
                <a:latin typeface="Microsoft YaHei"/>
              </a:defRPr>
            </a:pPr>
            <a:r>
              <a:t>核心问题：用户在分享过程中发生了什么？</a:t>
            </a:r>
          </a:p>
          <a:p>
            <a:pPr>
              <a:spcAft>
                <a:spcPts val="1080"/>
              </a:spcAft>
              <a:defRPr sz="1800" b="0">
                <a:solidFill>
                  <a:srgbClr val="FFFFFF"/>
                </a:solidFill>
                <a:latin typeface="Microsoft YaHei"/>
              </a:defRPr>
            </a:pPr>
          </a:p>
          <a:p>
            <a:pPr>
              <a:spcAft>
                <a:spcPts val="1080"/>
              </a:spcAft>
              <a:defRPr sz="1800" b="0">
                <a:solidFill>
                  <a:srgbClr val="FFFFFF"/>
                </a:solidFill>
                <a:latin typeface="Microsoft YaHei"/>
              </a:defRPr>
            </a:pPr>
            <a:r>
              <a:t>1. 谁在分享？→ 用户画像分析</a:t>
            </a:r>
          </a:p>
          <a:p>
            <a:pPr>
              <a:spcAft>
                <a:spcPts val="1080"/>
              </a:spcAft>
              <a:defRPr sz="1800" b="0">
                <a:solidFill>
                  <a:srgbClr val="FFFFFF"/>
                </a:solidFill>
                <a:latin typeface="Microsoft YaHei"/>
              </a:defRPr>
            </a:pPr>
            <a:r>
              <a:t>2. 高转化率的用户是谁？→ 排除无效分享</a:t>
            </a:r>
          </a:p>
          <a:p>
            <a:pPr>
              <a:spcAft>
                <a:spcPts val="1080"/>
              </a:spcAft>
              <a:defRPr sz="1800" b="0">
                <a:solidFill>
                  <a:srgbClr val="FFFFFF"/>
                </a:solidFill>
                <a:latin typeface="Microsoft YaHei"/>
              </a:defRPr>
            </a:pPr>
            <a:r>
              <a:t>3. 分享了什么？→ 高分享内容特征</a:t>
            </a:r>
          </a:p>
          <a:p>
            <a:pPr>
              <a:spcAft>
                <a:spcPts val="1080"/>
              </a:spcAft>
              <a:defRPr sz="1800" b="0">
                <a:solidFill>
                  <a:srgbClr val="FFFFFF"/>
                </a:solidFill>
                <a:latin typeface="Microsoft YaHei"/>
              </a:defRPr>
            </a:pPr>
          </a:p>
          <a:p>
            <a:pPr>
              <a:spcAft>
                <a:spcPts val="1080"/>
              </a:spcAft>
              <a:defRPr sz="1800" b="1">
                <a:solidFill>
                  <a:srgbClr val="FFD93D"/>
                </a:solidFill>
                <a:latin typeface="Microsoft YaHei"/>
              </a:defRPr>
            </a:pPr>
            <a:r>
              <a:t>策略：</a:t>
            </a:r>
          </a:p>
          <a:p>
            <a:pPr>
              <a:spcAft>
                <a:spcPts val="1080"/>
              </a:spcAft>
              <a:defRPr sz="1800" b="0">
                <a:solidFill>
                  <a:srgbClr val="FFFFFF"/>
                </a:solidFill>
                <a:latin typeface="Microsoft YaHei"/>
              </a:defRPr>
            </a:pPr>
            <a:r>
              <a:t>圈出高价值分享用户，在合适时间段推送</a:t>
            </a:r>
          </a:p>
          <a:p>
            <a:pPr>
              <a:spcAft>
                <a:spcPts val="1080"/>
              </a:spcAft>
              <a:defRPr sz="1800" b="0">
                <a:solidFill>
                  <a:srgbClr val="FFFFFF"/>
                </a:solidFill>
                <a:latin typeface="Microsoft YaHei"/>
              </a:defRPr>
            </a:pPr>
            <a:r>
              <a:t>高分享率的内容 → 提升分享转化新用户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D2FF"/>
                </a:solidFill>
                <a:latin typeface="Microsoft YaHei"/>
              </a:defRPr>
            </a:pPr>
            <a:r>
              <a:t>B站分享页面：两种使命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8229600" cy="200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1097280"/>
            <a:ext cx="3931920" cy="4754880"/>
          </a:xfrm>
          <a:prstGeom prst="round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6B6B"/>
                </a:solidFill>
                <a:latin typeface="Microsoft YaHei"/>
              </a:defRPr>
            </a:pPr>
            <a:r>
              <a:t>APP 内播放页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737360"/>
            <a:ext cx="36576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50"/>
              </a:spcAft>
              <a:defRPr sz="1500" b="0">
                <a:solidFill>
                  <a:srgbClr val="FFFFFF"/>
                </a:solidFill>
                <a:latin typeface="Microsoft YaHei"/>
              </a:defRPr>
            </a:pPr>
            <a:r>
              <a:t>目标：沉浸式消费内容</a:t>
            </a:r>
          </a:p>
          <a:p>
            <a:pPr>
              <a:spcAft>
                <a:spcPts val="750"/>
              </a:spcAft>
              <a:defRPr sz="1500" b="0">
                <a:solidFill>
                  <a:srgbClr val="FFFFFF"/>
                </a:solidFill>
                <a:latin typeface="Microsoft YaHei"/>
              </a:defRPr>
            </a:pPr>
          </a:p>
          <a:p>
            <a:pPr>
              <a:spcAft>
                <a:spcPts val="750"/>
              </a:spcAft>
              <a:defRPr sz="1500" b="0">
                <a:solidFill>
                  <a:srgbClr val="FFFFFF"/>
                </a:solidFill>
                <a:latin typeface="Microsoft YaHei"/>
              </a:defRPr>
            </a:pPr>
            <a:r>
              <a:t>• 视频播放器为主</a:t>
            </a:r>
          </a:p>
          <a:p>
            <a:pPr>
              <a:spcAft>
                <a:spcPts val="750"/>
              </a:spcAft>
              <a:defRPr sz="1500" b="0">
                <a:solidFill>
                  <a:srgbClr val="FFFFFF"/>
                </a:solidFill>
                <a:latin typeface="Microsoft YaHei"/>
              </a:defRPr>
            </a:pPr>
            <a:r>
              <a:t>• 弹幕互动</a:t>
            </a:r>
          </a:p>
          <a:p>
            <a:pPr>
              <a:spcAft>
                <a:spcPts val="750"/>
              </a:spcAft>
              <a:defRPr sz="1500" b="0">
                <a:solidFill>
                  <a:srgbClr val="FFFFFF"/>
                </a:solidFill>
                <a:latin typeface="Microsoft YaHei"/>
              </a:defRPr>
            </a:pPr>
            <a:r>
              <a:t>• 评论区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846320" y="1097280"/>
            <a:ext cx="3931920" cy="4754880"/>
          </a:xfrm>
          <a:prstGeom prst="round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0" y="118872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4ECB71"/>
                </a:solidFill>
                <a:latin typeface="Microsoft YaHei"/>
              </a:defRPr>
            </a:pPr>
            <a:r>
              <a:t>微信分享页（落地页）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0" y="1737360"/>
            <a:ext cx="36576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50"/>
              </a:spcAft>
              <a:defRPr sz="1500" b="0">
                <a:solidFill>
                  <a:srgbClr val="FFFFFF"/>
                </a:solidFill>
                <a:latin typeface="Microsoft YaHei"/>
              </a:defRPr>
            </a:pPr>
            <a:r>
              <a:t>目标：拉新下载 APP</a:t>
            </a:r>
          </a:p>
          <a:p>
            <a:pPr>
              <a:spcAft>
                <a:spcPts val="750"/>
              </a:spcAft>
              <a:defRPr sz="1500" b="0">
                <a:solidFill>
                  <a:srgbClr val="FFFFFF"/>
                </a:solidFill>
                <a:latin typeface="Microsoft YaHei"/>
              </a:defRPr>
            </a:pPr>
          </a:p>
          <a:p>
            <a:pPr>
              <a:spcAft>
                <a:spcPts val="750"/>
              </a:spcAft>
              <a:defRPr sz="1500" b="0">
                <a:solidFill>
                  <a:srgbClr val="FFFFFF"/>
                </a:solidFill>
                <a:latin typeface="Microsoft YaHei"/>
              </a:defRPr>
            </a:pPr>
            <a:r>
              <a:t>• 右上角：下载 APP 按钮</a:t>
            </a:r>
          </a:p>
          <a:p>
            <a:pPr>
              <a:spcAft>
                <a:spcPts val="750"/>
              </a:spcAft>
              <a:defRPr sz="1500" b="0">
                <a:solidFill>
                  <a:srgbClr val="FFFFFF"/>
                </a:solidFill>
                <a:latin typeface="Microsoft YaHei"/>
              </a:defRPr>
            </a:pPr>
            <a:r>
              <a:t>• 视频下方：下载 APP 按钮</a:t>
            </a:r>
          </a:p>
          <a:p>
            <a:pPr>
              <a:spcAft>
                <a:spcPts val="750"/>
              </a:spcAft>
              <a:defRPr sz="1500" b="0">
                <a:solidFill>
                  <a:srgbClr val="FFFFFF"/>
                </a:solidFill>
                <a:latin typeface="Microsoft YaHei"/>
              </a:defRPr>
            </a:pPr>
            <a:r>
              <a:t>• 封面/标题/评分/播放量</a:t>
            </a:r>
          </a:p>
          <a:p>
            <a:pPr>
              <a:spcAft>
                <a:spcPts val="750"/>
              </a:spcAft>
              <a:defRPr sz="1500" b="0">
                <a:solidFill>
                  <a:srgbClr val="FFFFFF"/>
                </a:solidFill>
                <a:latin typeface="Microsoft YaHei"/>
              </a:defRPr>
            </a:pPr>
            <a:r>
              <a:t>• 更多推荐 → 点击就提示下载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00D2FF"/>
                </a:solidFill>
                <a:latin typeface="Microsoft YaHei"/>
              </a:defRPr>
            </a:pPr>
            <a:r>
              <a:t>感谢观看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4747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FFD93D"/>
                </a:solidFill>
                <a:latin typeface="Microsoft YaHei"/>
              </a:defRPr>
            </a:pPr>
            <a:r>
              <a:t>点赞  ·  收藏  ·  关注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BBBBCC"/>
                </a:solidFill>
                <a:latin typeface="Microsoft YaHei"/>
              </a:defRPr>
            </a:pPr>
            <a:r>
              <a:t>我是 Omega，我们下期再见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